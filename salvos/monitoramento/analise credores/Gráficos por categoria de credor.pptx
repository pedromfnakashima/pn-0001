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6" r:id="rId3"/>
    <p:sldId id="263" r:id="rId4"/>
    <p:sldId id="262" r:id="rId5"/>
    <p:sldId id="265" r:id="rId6"/>
    <p:sldId id="257" r:id="rId7"/>
    <p:sldId id="260" r:id="rId8"/>
    <p:sldId id="258" r:id="rId9"/>
    <p:sldId id="259" r:id="rId10"/>
    <p:sldId id="256" r:id="rId11"/>
    <p:sldId id="261" r:id="rId12"/>
    <p:sldId id="267" r:id="rId13"/>
    <p:sldId id="264" r:id="rId14"/>
    <p:sldId id="268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ney" initials="S" lastIdx="1" clrIdx="0">
    <p:extLst>
      <p:ext uri="{19B8F6BF-5375-455C-9EA6-DF929625EA0E}">
        <p15:presenceInfo xmlns:p15="http://schemas.microsoft.com/office/powerpoint/2012/main" userId="Sta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9CACE-EDE1-E33F-A5D6-4031FC9D6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07E14C-5BFC-301A-5795-92952F6C7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08674C-8CA2-8D18-2295-2D8D8BDA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3B08F-A082-6E5E-CC57-7BD7C914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893A9C-A0B8-F907-B046-27299838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84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7E4FD-313F-1629-1D06-AB986A7F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19157-8C5B-659B-7418-689F14F2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83FCD4-BE16-98B6-EBFD-E05A1958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BE6734-7AA2-D62E-F191-7D420FF2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F79E3D-0000-3DA9-D14E-DEDC617C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963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CDE9F-55B9-076A-0D05-74D76E831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80E26F-6E26-92C8-A099-11821DC9D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46E187-C4B4-26F3-6049-3C75C816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AFCDC5-E25F-F1D6-42DE-D812633C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29B61B-9ED3-8815-7188-0A540D2F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766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DD0AE-3D1D-EC16-C10E-B07F2C822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2B1BAC-DAA9-D39E-54FD-2461F649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A362E0-5033-A20D-9422-0C5DA37B6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77986F-00AE-85FF-874A-B2025637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C4BC46-D7A1-D4EA-00A0-7CA0601B4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6B54B4-C517-87A4-C032-C2944042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69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930CD-E0A4-964A-0980-0709A532C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18230A-8E7C-00CF-4BAA-BA903B857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4AE7F7-27CE-098F-5B13-462F182A0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86B6D4-E48A-0BED-7794-D6AB93736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3F23CE0-4A66-A841-05B1-5ADBCA42B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6CB75D-5E24-2C1A-8739-2FFAEFF1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E741F6-1D6C-696F-03D3-67918639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6AD504-D539-EDD6-A513-A91650B1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39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BEAE4-6D8D-7CB7-3A01-A5B79F00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DDC43D-F6DF-98E7-A804-BF135A9C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19317E-0780-2F09-573A-550B7313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15D4CF-D866-76D3-4B0E-B0F14802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28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7DD1074-27F6-2847-3C93-B7AF5F98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B53674-1492-7BA7-CEA1-DC377C26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D1E00A-A032-8A0A-FF4E-F93062FB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283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F517A-651E-5588-D27C-EFFA38DC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19461-FEB0-D5BE-396C-843DB704C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3718DD-DD4D-EC28-17BE-56BD594C3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1831F6-BB1F-B046-A3FB-D72C952B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83E920-4736-BE50-35BD-629D04C9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B04B42-F8E1-D4E9-CA82-6C0C64A3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83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9ECF7-441D-1111-D416-0368F54D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C75F74-3264-5C56-4292-939CEC2C2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BDF8D7-9831-5099-FD58-434E0B529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71AAB4-BBFB-38F0-E977-BB8150C91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61C617-59BB-D451-6E39-F9AFA60A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5D092A-1845-9AA6-550D-47A43FD2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03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69ADC-18F8-B04F-9372-89BA7CC4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1943D5-789C-F758-5CCA-492F5FC53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F97CB-76A3-7CDF-32C2-45BF52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87459A-DCB7-1F39-8BFE-373644C2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FDC72F-A103-E4CF-7A01-40A3C0C9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622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6EA72A-7115-AADA-415B-0CD96C30B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C3B129-1875-DD93-0769-EC82AAB88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A343A5-3F58-B73C-BD4D-B2BD0142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1D62E5-9534-9C8D-77D5-27BC0D17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FDDA20-E33F-7BF1-300F-4A5B7193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76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E58A1C-4B09-4C53-BEB6-1CD29773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5EDBEC-3AE9-33A7-DEE0-A23BE37C3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228D72-EC53-CF38-27D5-E7A85E8B11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87F2F-5450-4620-B0CE-17823650045C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3C4596-2DF0-5745-25A0-7E170969B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6AAB01-8084-DF5D-2944-2B7F7B903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3D118-A26A-4F65-AF18-D2A578EC73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93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52"/>
            <a:ext cx="12192000" cy="682744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689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505415" y="579863"/>
            <a:ext cx="894327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500" b="1" dirty="0" smtClean="0">
                <a:latin typeface="Arial" panose="020B0604020202020204" pitchFamily="34" charset="0"/>
              </a:rPr>
              <a:t>Metodologia</a:t>
            </a:r>
            <a:endParaRPr lang="pt-BR" sz="3500" b="1" dirty="0">
              <a:latin typeface="Arial" panose="020B0604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505415" y="1572322"/>
            <a:ext cx="89432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Foram selecionadas </a:t>
            </a:r>
            <a:r>
              <a:rPr lang="pt-BR" dirty="0" smtClean="0">
                <a:solidFill>
                  <a:srgbClr val="C00000"/>
                </a:solidFill>
              </a:rPr>
              <a:t>404 empresas </a:t>
            </a:r>
            <a:r>
              <a:rPr lang="pt-BR" dirty="0" smtClean="0"/>
              <a:t>e entidades privadas por meio do seguinte critério:</a:t>
            </a:r>
          </a:p>
          <a:p>
            <a:endParaRPr lang="pt-BR" dirty="0"/>
          </a:p>
          <a:p>
            <a:r>
              <a:rPr lang="pt-BR" b="1" dirty="0" smtClean="0"/>
              <a:t>1. </a:t>
            </a:r>
            <a:r>
              <a:rPr lang="pt-BR" dirty="0" smtClean="0"/>
              <a:t>Agrupamento dos dados de despesas disponíveis no </a:t>
            </a:r>
            <a:r>
              <a:rPr lang="pt-BR" b="1" dirty="0" smtClean="0">
                <a:solidFill>
                  <a:srgbClr val="C00000"/>
                </a:solidFill>
              </a:rPr>
              <a:t>portal da transparência</a:t>
            </a:r>
            <a:r>
              <a:rPr lang="pt-BR" dirty="0" smtClean="0"/>
              <a:t>.</a:t>
            </a:r>
          </a:p>
          <a:p>
            <a:r>
              <a:rPr lang="pt-BR" b="1" dirty="0" smtClean="0"/>
              <a:t>2. </a:t>
            </a:r>
            <a:r>
              <a:rPr lang="pt-BR" dirty="0" smtClean="0"/>
              <a:t>Os dados agrupados e anualizados de </a:t>
            </a:r>
            <a:r>
              <a:rPr lang="pt-BR" b="1" dirty="0" smtClean="0">
                <a:solidFill>
                  <a:srgbClr val="C00000"/>
                </a:solidFill>
              </a:rPr>
              <a:t>2015 á 2025 </a:t>
            </a:r>
            <a:r>
              <a:rPr lang="pt-BR" dirty="0" smtClean="0"/>
              <a:t>foram ordenados pela coluna “</a:t>
            </a:r>
            <a:r>
              <a:rPr lang="pt-BR" b="1" dirty="0" smtClean="0">
                <a:solidFill>
                  <a:srgbClr val="C00000"/>
                </a:solidFill>
              </a:rPr>
              <a:t>Total</a:t>
            </a:r>
            <a:r>
              <a:rPr lang="pt-BR" dirty="0" smtClean="0"/>
              <a:t>”, colocando em hierarquia de valor os mais de 80 mil credores disponíveis na planilha.</a:t>
            </a:r>
          </a:p>
          <a:p>
            <a:r>
              <a:rPr lang="pt-BR" b="1" dirty="0" smtClean="0"/>
              <a:t>3. </a:t>
            </a:r>
            <a:r>
              <a:rPr lang="pt-BR" dirty="0" smtClean="0"/>
              <a:t>Na sequencia, foram dissociadas as despesas com gastos de natureza pública e algumas </a:t>
            </a:r>
            <a:r>
              <a:rPr lang="pt-BR" dirty="0" smtClean="0">
                <a:solidFill>
                  <a:srgbClr val="C00000"/>
                </a:solidFill>
              </a:rPr>
              <a:t>exceções (vencimento, inativos, previdência, secretarias, bancos, transferências a municípios, </a:t>
            </a:r>
            <a:r>
              <a:rPr lang="pt-BR" dirty="0" err="1" smtClean="0">
                <a:solidFill>
                  <a:srgbClr val="C00000"/>
                </a:solidFill>
              </a:rPr>
              <a:t>etc</a:t>
            </a:r>
            <a:r>
              <a:rPr lang="pt-BR" dirty="0" smtClean="0">
                <a:solidFill>
                  <a:srgbClr val="C00000"/>
                </a:solidFill>
              </a:rPr>
              <a:t>) d</a:t>
            </a:r>
            <a:r>
              <a:rPr lang="pt-BR" dirty="0" smtClean="0"/>
              <a:t>as despesas pagas a credores privados (entidades e empresas).</a:t>
            </a:r>
          </a:p>
          <a:p>
            <a:r>
              <a:rPr lang="pt-BR" b="1" dirty="0" smtClean="0"/>
              <a:t>4. </a:t>
            </a:r>
            <a:r>
              <a:rPr lang="pt-BR" dirty="0" smtClean="0"/>
              <a:t>Outro critério de corte foi a seleção de empresas que receberam, no intervalo de 2015 a 2025, pelo menos </a:t>
            </a:r>
            <a:r>
              <a:rPr lang="pt-BR" b="1" dirty="0" smtClean="0">
                <a:solidFill>
                  <a:srgbClr val="C00000"/>
                </a:solidFill>
              </a:rPr>
              <a:t>R$ 10 milhões</a:t>
            </a:r>
            <a:r>
              <a:rPr lang="pt-BR" dirty="0" smtClean="0"/>
              <a:t>.</a:t>
            </a:r>
          </a:p>
          <a:p>
            <a:r>
              <a:rPr lang="pt-BR" b="1" dirty="0" smtClean="0"/>
              <a:t>5. </a:t>
            </a:r>
            <a:r>
              <a:rPr lang="pt-BR" dirty="0" smtClean="0"/>
              <a:t>Em conjunto, estes filtros reduziram a amostra de 80 mil credores para apenas 404 credores. </a:t>
            </a:r>
          </a:p>
          <a:p>
            <a:r>
              <a:rPr lang="pt-BR" b="1" dirty="0" smtClean="0"/>
              <a:t>6. </a:t>
            </a:r>
            <a:r>
              <a:rPr lang="pt-BR" dirty="0" smtClean="0"/>
              <a:t>Juntos, estes </a:t>
            </a:r>
            <a:r>
              <a:rPr lang="pt-BR" b="1" dirty="0" smtClean="0">
                <a:solidFill>
                  <a:srgbClr val="C00000"/>
                </a:solidFill>
              </a:rPr>
              <a:t>404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r>
              <a:rPr lang="pt-BR" dirty="0" smtClean="0"/>
              <a:t>credores representaram, no intervalo de 2015 á 2025, cerca de </a:t>
            </a:r>
            <a:r>
              <a:rPr lang="pt-BR" b="1" dirty="0" smtClean="0">
                <a:solidFill>
                  <a:srgbClr val="C00000"/>
                </a:solidFill>
              </a:rPr>
              <a:t>16,6%</a:t>
            </a:r>
            <a:r>
              <a:rPr lang="pt-BR" dirty="0" smtClean="0"/>
              <a:t> de tudo que o estado pagou em termos de despesas.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205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818"/>
            <a:ext cx="12158283" cy="684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1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" y="11318"/>
            <a:ext cx="12169698" cy="684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16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553628" y="2776653"/>
            <a:ext cx="732635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500" b="1" dirty="0">
                <a:latin typeface="Arial" panose="020B0604020202020204" pitchFamily="34" charset="0"/>
              </a:rPr>
              <a:t>Total de Gastos por categoria</a:t>
            </a:r>
            <a:endParaRPr lang="pt-BR" sz="35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43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B7F4-A07D-46B7-F3E5-9153D074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68C9A08-E1D4-0A4E-5950-B71DCEEC5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8"/>
            <a:ext cx="12218020" cy="684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95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05E4-42DC-288D-A466-667E889A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921CDB6-0284-4B72-0F92-DCF3B3F7F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556"/>
            <a:ext cx="12178598" cy="686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9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DF7B-2B3C-08AD-B997-58E2E726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045630-F9A3-E095-5E3D-40F74B42A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27"/>
            <a:ext cx="12172638" cy="686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4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5868-A830-AC41-EE83-8FC6DB67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8DB1BD7-001E-9BDD-B163-8DBA0ABE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" y="0"/>
            <a:ext cx="12188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7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BA7352C-98C2-D28D-B484-658351955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12"/>
            <a:ext cx="12192000" cy="684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2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19414" cy="6802243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8399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" y="59057"/>
            <a:ext cx="12076941" cy="6798943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515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51" y="40687"/>
            <a:ext cx="12192000" cy="6817313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8655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8" y="55461"/>
            <a:ext cx="12125092" cy="6757935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6553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188</Words>
  <Application>Microsoft Office PowerPoint</Application>
  <PresentationFormat>Widescreen</PresentationFormat>
  <Paragraphs>10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Staney</dc:creator>
  <cp:lastModifiedBy>Staney Barbosa</cp:lastModifiedBy>
  <cp:revision>21</cp:revision>
  <dcterms:created xsi:type="dcterms:W3CDTF">2025-08-28T13:24:49Z</dcterms:created>
  <dcterms:modified xsi:type="dcterms:W3CDTF">2025-08-29T14:47:38Z</dcterms:modified>
</cp:coreProperties>
</file>