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74" r:id="rId2"/>
    <p:sldId id="475" r:id="rId3"/>
    <p:sldId id="476" r:id="rId4"/>
    <p:sldId id="477" r:id="rId5"/>
    <p:sldId id="478" r:id="rId6"/>
    <p:sldId id="256" r:id="rId7"/>
    <p:sldId id="392" r:id="rId8"/>
    <p:sldId id="393" r:id="rId9"/>
    <p:sldId id="257" r:id="rId10"/>
    <p:sldId id="394" r:id="rId11"/>
    <p:sldId id="395" r:id="rId12"/>
    <p:sldId id="258" r:id="rId13"/>
    <p:sldId id="435" r:id="rId14"/>
    <p:sldId id="396" r:id="rId15"/>
    <p:sldId id="259" r:id="rId16"/>
    <p:sldId id="436" r:id="rId17"/>
    <p:sldId id="397" r:id="rId18"/>
    <p:sldId id="260" r:id="rId19"/>
    <p:sldId id="437" r:id="rId20"/>
    <p:sldId id="398" r:id="rId21"/>
    <p:sldId id="261" r:id="rId22"/>
    <p:sldId id="438" r:id="rId23"/>
    <p:sldId id="399" r:id="rId24"/>
    <p:sldId id="262" r:id="rId25"/>
    <p:sldId id="439" r:id="rId26"/>
    <p:sldId id="400" r:id="rId27"/>
    <p:sldId id="263" r:id="rId28"/>
    <p:sldId id="440" r:id="rId29"/>
    <p:sldId id="401" r:id="rId30"/>
    <p:sldId id="264" r:id="rId31"/>
    <p:sldId id="441" r:id="rId32"/>
    <p:sldId id="402" r:id="rId33"/>
    <p:sldId id="265" r:id="rId34"/>
    <p:sldId id="442" r:id="rId35"/>
    <p:sldId id="403" r:id="rId36"/>
    <p:sldId id="266" r:id="rId37"/>
    <p:sldId id="443" r:id="rId38"/>
    <p:sldId id="404" r:id="rId39"/>
    <p:sldId id="267" r:id="rId40"/>
    <p:sldId id="444" r:id="rId41"/>
    <p:sldId id="405" r:id="rId42"/>
    <p:sldId id="268" r:id="rId43"/>
    <p:sldId id="445" r:id="rId44"/>
    <p:sldId id="406" r:id="rId45"/>
    <p:sldId id="269" r:id="rId46"/>
    <p:sldId id="446" r:id="rId47"/>
    <p:sldId id="407" r:id="rId48"/>
    <p:sldId id="270" r:id="rId49"/>
    <p:sldId id="447" r:id="rId50"/>
    <p:sldId id="408" r:id="rId51"/>
    <p:sldId id="271" r:id="rId52"/>
    <p:sldId id="448" r:id="rId53"/>
    <p:sldId id="410" r:id="rId54"/>
    <p:sldId id="272" r:id="rId55"/>
    <p:sldId id="449" r:id="rId56"/>
    <p:sldId id="409" r:id="rId57"/>
    <p:sldId id="273" r:id="rId58"/>
    <p:sldId id="450" r:id="rId59"/>
    <p:sldId id="411" r:id="rId60"/>
    <p:sldId id="274" r:id="rId61"/>
    <p:sldId id="451" r:id="rId62"/>
    <p:sldId id="412" r:id="rId63"/>
    <p:sldId id="275" r:id="rId64"/>
    <p:sldId id="452" r:id="rId65"/>
    <p:sldId id="413" r:id="rId66"/>
    <p:sldId id="276" r:id="rId67"/>
    <p:sldId id="453" r:id="rId68"/>
    <p:sldId id="414" r:id="rId69"/>
    <p:sldId id="277" r:id="rId70"/>
    <p:sldId id="454" r:id="rId71"/>
    <p:sldId id="415" r:id="rId72"/>
    <p:sldId id="278" r:id="rId73"/>
    <p:sldId id="455" r:id="rId74"/>
    <p:sldId id="416" r:id="rId75"/>
    <p:sldId id="279" r:id="rId76"/>
    <p:sldId id="456" r:id="rId77"/>
    <p:sldId id="417" r:id="rId78"/>
    <p:sldId id="280" r:id="rId79"/>
    <p:sldId id="457" r:id="rId80"/>
    <p:sldId id="418" r:id="rId81"/>
    <p:sldId id="281" r:id="rId82"/>
    <p:sldId id="458" r:id="rId83"/>
    <p:sldId id="419" r:id="rId84"/>
    <p:sldId id="282" r:id="rId85"/>
    <p:sldId id="473" r:id="rId86"/>
    <p:sldId id="420" r:id="rId87"/>
    <p:sldId id="283" r:id="rId88"/>
    <p:sldId id="459" r:id="rId89"/>
    <p:sldId id="421" r:id="rId90"/>
    <p:sldId id="284" r:id="rId91"/>
    <p:sldId id="460" r:id="rId92"/>
    <p:sldId id="422" r:id="rId93"/>
    <p:sldId id="285" r:id="rId94"/>
    <p:sldId id="461" r:id="rId95"/>
    <p:sldId id="423" r:id="rId96"/>
    <p:sldId id="286" r:id="rId97"/>
    <p:sldId id="462" r:id="rId98"/>
    <p:sldId id="424" r:id="rId99"/>
    <p:sldId id="287" r:id="rId100"/>
    <p:sldId id="463" r:id="rId101"/>
    <p:sldId id="425" r:id="rId102"/>
    <p:sldId id="288" r:id="rId103"/>
    <p:sldId id="464" r:id="rId104"/>
    <p:sldId id="426" r:id="rId105"/>
    <p:sldId id="289" r:id="rId106"/>
    <p:sldId id="465" r:id="rId107"/>
    <p:sldId id="427" r:id="rId108"/>
    <p:sldId id="290" r:id="rId109"/>
    <p:sldId id="466" r:id="rId110"/>
    <p:sldId id="428" r:id="rId111"/>
    <p:sldId id="291" r:id="rId112"/>
    <p:sldId id="467" r:id="rId113"/>
    <p:sldId id="429" r:id="rId114"/>
    <p:sldId id="292" r:id="rId115"/>
    <p:sldId id="468" r:id="rId116"/>
    <p:sldId id="430" r:id="rId117"/>
    <p:sldId id="293" r:id="rId118"/>
    <p:sldId id="469" r:id="rId119"/>
    <p:sldId id="431" r:id="rId120"/>
    <p:sldId id="294" r:id="rId121"/>
    <p:sldId id="470" r:id="rId122"/>
    <p:sldId id="433" r:id="rId123"/>
    <p:sldId id="295" r:id="rId124"/>
    <p:sldId id="471" r:id="rId125"/>
    <p:sldId id="434" r:id="rId126"/>
    <p:sldId id="296" r:id="rId127"/>
    <p:sldId id="472" r:id="rId128"/>
    <p:sldId id="432" r:id="rId1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18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13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8908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79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83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730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001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417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493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061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73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54808-654A-4888-A54B-0851727689DD}" type="datetimeFigureOut">
              <a:rPr lang="pt-BR" smtClean="0"/>
              <a:t>15/10/2025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7E4C3-A531-4CCF-BED1-A9C04FC598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97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9000">
              <a:schemeClr val="accent1">
                <a:lumMod val="0"/>
                <a:lumOff val="100000"/>
              </a:schemeClr>
            </a:gs>
            <a:gs pos="26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95422" y="2705619"/>
            <a:ext cx="11605846" cy="1046440"/>
          </a:xfrm>
          <a:prstGeom prst="rect">
            <a:avLst/>
          </a:prstGeom>
          <a:solidFill>
            <a:schemeClr val="bg1"/>
          </a:solidFill>
          <a:ln w="508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Análise das Despesas com Pessoal no Mato Grosso do Sul</a:t>
            </a:r>
          </a:p>
          <a:p>
            <a:pPr algn="ctr"/>
            <a:r>
              <a:rPr lang="pt-BR" sz="3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Janeiro/2015 – Agosto/2025</a:t>
            </a:r>
          </a:p>
        </p:txBody>
      </p:sp>
    </p:spTree>
    <p:extLst>
      <p:ext uri="{BB962C8B-B14F-4D97-AF65-F5344CB8AC3E}">
        <p14:creationId xmlns:p14="http://schemas.microsoft.com/office/powerpoint/2010/main" val="1255659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0" y="46244"/>
            <a:ext cx="12158412" cy="6811756"/>
          </a:xfrm>
          <a:prstGeom prst="rect">
            <a:avLst/>
          </a:prstGeom>
          <a:solidFill>
            <a:schemeClr val="accent1"/>
          </a:solidFill>
          <a:ln w="44450">
            <a:solidFill>
              <a:schemeClr val="tx1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53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8" y="38048"/>
            <a:ext cx="12135731" cy="6768425"/>
          </a:xfrm>
          <a:prstGeom prst="rect">
            <a:avLst/>
          </a:prstGeom>
          <a:ln w="44450">
            <a:solidFill>
              <a:schemeClr val="tx1"/>
            </a:solidFill>
          </a:ln>
        </p:spPr>
      </p:pic>
      <p:sp>
        <p:nvSpPr>
          <p:cNvPr id="4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323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" y="13855"/>
            <a:ext cx="12148033" cy="6844145"/>
          </a:xfrm>
          <a:prstGeom prst="rect">
            <a:avLst/>
          </a:prstGeom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197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" y="-2387"/>
            <a:ext cx="12164543" cy="6860387"/>
          </a:xfrm>
          <a:prstGeom prst="rect">
            <a:avLst/>
          </a:prstGeom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74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19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25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6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618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22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390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14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373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368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727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15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192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943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788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530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971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313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531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692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843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181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692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782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405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363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408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127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37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5645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4697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410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6671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5653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1027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943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8351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5878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1033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3345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7905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898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7016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1163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4566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6922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145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898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875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4350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6100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6083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6097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4896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1279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8785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5102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6780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1771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3799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1284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3876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4829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5415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849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4985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6736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5191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2308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793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958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857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6219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037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58282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4314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0838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8534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3780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5359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6016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28929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7477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5406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7530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8876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6293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391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3358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67192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10364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1691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91644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4312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28220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52159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8197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06395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15881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41018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09312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21868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07897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44915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59239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29569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06340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69874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39399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90153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09444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30685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92718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29905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41681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54351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44481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28475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27313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52560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11123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01518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2689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" y="126016"/>
            <a:ext cx="11939969" cy="6605969"/>
          </a:xfrm>
          <a:prstGeom prst="rect">
            <a:avLst/>
          </a:prstGeom>
          <a:ln w="126016">
            <a:solidFill>
              <a:srgbClr val="000000"/>
            </a:solidFill>
          </a:ln>
        </p:spPr>
      </p:pic>
      <p:sp>
        <p:nvSpPr>
          <p:cNvPr id="3" name="Fonte"/>
          <p:cNvSpPr txBox="1"/>
          <p:nvPr/>
        </p:nvSpPr>
        <p:spPr>
          <a:xfrm>
            <a:off x="127000" y="6540500"/>
            <a:ext cx="508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900" dirty="0" smtClean="0">
                <a:solidFill>
                  <a:srgbClr val="646464"/>
                </a:solidFill>
                <a:latin typeface="Arial" panose="020B0604020202020204" pitchFamily="34" charset="0"/>
              </a:rPr>
              <a:t>Fonte: Portal da Transparência MS</a:t>
            </a:r>
            <a:endParaRPr lang="pt-BR" sz="900" dirty="0">
              <a:solidFill>
                <a:srgbClr val="64646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8387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775</Words>
  <Application>Microsoft Office PowerPoint</Application>
  <PresentationFormat>Widescreen</PresentationFormat>
  <Paragraphs>129</Paragraphs>
  <Slides>128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128</vt:i4>
      </vt:variant>
    </vt:vector>
  </HeadingPairs>
  <TitlesOfParts>
    <vt:vector size="132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Staney Barbosa</dc:creator>
  <cp:lastModifiedBy>Staney Barbosa</cp:lastModifiedBy>
  <cp:revision>12</cp:revision>
  <dcterms:created xsi:type="dcterms:W3CDTF">2025-10-15T19:27:34Z</dcterms:created>
  <dcterms:modified xsi:type="dcterms:W3CDTF">2025-10-15T20:58:11Z</dcterms:modified>
</cp:coreProperties>
</file>